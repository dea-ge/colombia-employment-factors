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Colombia Employment Factors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Reusable employment-factor data and learning-curve methodology for power-sector models</a:t>
            </a:r>
          </a:p>
        </p:txBody>
      </p:sp>
      <p:sp>
        <p:nvSpPr>
          <p:cNvPr id="10" name="Hero"/>
          <p:cNvSpPr txBox="1"/>
          <p:nvPr/>
        </p:nvSpPr>
        <p:spPr>
          <a:xfrm>
            <a:off x="640080" y="1600200"/>
            <a:ext cx="6583680" cy="1828800"/>
          </a:xfrm>
          <a:prstGeom prst="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100" b="1">
                <a:solidFill>
                  <a:srgbClr val="1F2937"/>
                </a:solidFill>
              </a:rPr>
              <a:t>Purpose</a:t>
            </a:r>
          </a:p>
          <a:p>
            <a:pPr marL="0" marR="0" indent="0"/>
            <a:r>
              <a:rPr lang="en-US" sz="2100">
                <a:solidFill>
                  <a:srgbClr val="1F2937"/>
                </a:solidFill>
              </a:rPr>
              <a:t>Separate labour-impact assumptions from the optimization model and expose them as an installable Python package.</a:t>
            </a:r>
          </a:p>
        </p:txBody>
      </p:sp>
      <p:sp>
        <p:nvSpPr>
          <p:cNvPr id="11" name="Stats"/>
          <p:cNvSpPr txBox="1"/>
          <p:nvPr/>
        </p:nvSpPr>
        <p:spPr>
          <a:xfrm>
            <a:off x="7635240" y="1600200"/>
            <a:ext cx="3886200" cy="1828800"/>
          </a:xfrm>
          <a:prstGeom prst="rect">
            <a:avLst/>
          </a:prstGeom>
          <a:solidFill>
            <a:srgbClr val="ECFDF5"/>
          </a:solidFill>
          <a:ln>
            <a:solidFill>
              <a:srgbClr val="86EFAC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850" b="1">
                <a:solidFill>
                  <a:srgbClr val="1F2937"/>
                </a:solidFill>
              </a:rPr>
              <a:t>Current dataset</a:t>
            </a:r>
          </a:p>
          <a:p>
            <a:pPr marL="0" marR="0" indent="0"/>
            <a:r>
              <a:rPr lang="en-US" sz="1850">
                <a:solidFill>
                  <a:srgbClr val="1F2937"/>
                </a:solidFill>
              </a:rPr>
              <a:t>193 rows</a:t>
            </a:r>
          </a:p>
          <a:p>
            <a:pPr marL="0" marR="0" indent="0"/>
            <a:r>
              <a:rPr lang="en-US" sz="1850">
                <a:solidFill>
                  <a:srgbClr val="1F2937"/>
                </a:solidFill>
              </a:rPr>
              <a:t>22 technologies</a:t>
            </a:r>
          </a:p>
          <a:p>
            <a:pPr marL="0" marR="0" indent="0"/>
            <a:r>
              <a:rPr lang="en-US" sz="1850">
                <a:solidFill>
                  <a:srgbClr val="1F2937"/>
                </a:solidFill>
              </a:rPr>
              <a:t>Years: 2015, 2024, 2030, 2050</a:t>
            </a:r>
          </a:p>
        </p:txBody>
      </p:sp>
      <p:sp>
        <p:nvSpPr>
          <p:cNvPr id="12" name="Pill OSeMOSYS"/>
          <p:cNvSpPr txBox="1"/>
          <p:nvPr/>
        </p:nvSpPr>
        <p:spPr>
          <a:xfrm>
            <a:off x="640080" y="3977639"/>
            <a:ext cx="1828800" cy="384048"/>
          </a:xfrm>
          <a:prstGeom prst="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300" b="1">
                <a:solidFill>
                  <a:srgbClr val="075985"/>
                </a:solidFill>
              </a:rPr>
              <a:t>OSeMOSYS</a:t>
            </a:r>
          </a:p>
        </p:txBody>
      </p:sp>
      <p:sp>
        <p:nvSpPr>
          <p:cNvPr id="13" name="Pill TIMES-MARKAL"/>
          <p:cNvSpPr txBox="1"/>
          <p:nvPr/>
        </p:nvSpPr>
        <p:spPr>
          <a:xfrm>
            <a:off x="2697480" y="3977639"/>
            <a:ext cx="2011680" cy="384048"/>
          </a:xfrm>
          <a:prstGeom prst="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300" b="1">
                <a:solidFill>
                  <a:srgbClr val="075985"/>
                </a:solidFill>
              </a:rPr>
              <a:t>TIMES-MARKAL</a:t>
            </a:r>
          </a:p>
        </p:txBody>
      </p:sp>
      <p:sp>
        <p:nvSpPr>
          <p:cNvPr id="14" name="Pill LEAP"/>
          <p:cNvSpPr txBox="1"/>
          <p:nvPr/>
        </p:nvSpPr>
        <p:spPr>
          <a:xfrm>
            <a:off x="4983480" y="3977639"/>
            <a:ext cx="1280160" cy="384048"/>
          </a:xfrm>
          <a:prstGeom prst="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300" b="1">
                <a:solidFill>
                  <a:srgbClr val="075985"/>
                </a:solidFill>
              </a:rPr>
              <a:t>LEAP</a:t>
            </a:r>
          </a:p>
        </p:txBody>
      </p:sp>
      <p:sp>
        <p:nvSpPr>
          <p:cNvPr id="15" name="Pill Ex-post jobs"/>
          <p:cNvSpPr txBox="1"/>
          <p:nvPr/>
        </p:nvSpPr>
        <p:spPr>
          <a:xfrm>
            <a:off x="6537960" y="3977639"/>
            <a:ext cx="2286000" cy="384048"/>
          </a:xfrm>
          <a:prstGeom prst="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300" b="1">
                <a:solidFill>
                  <a:srgbClr val="075985"/>
                </a:solidFill>
              </a:rPr>
              <a:t>Ex-post jobs</a:t>
            </a:r>
          </a:p>
        </p:txBody>
      </p:sp>
      <p:sp>
        <p:nvSpPr>
          <p:cNvPr id="16" name="Pill Just transition"/>
          <p:cNvSpPr txBox="1"/>
          <p:nvPr/>
        </p:nvSpPr>
        <p:spPr>
          <a:xfrm>
            <a:off x="9098280" y="3977639"/>
            <a:ext cx="1920240" cy="384048"/>
          </a:xfrm>
          <a:prstGeom prst="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300" b="1">
                <a:solidFill>
                  <a:srgbClr val="075985"/>
                </a:solidFill>
              </a:rPr>
              <a:t>Just transition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Why A Separate Package?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Employment factors are model-agnostic; model outputs are model-specific.</a:t>
            </a:r>
          </a:p>
        </p:txBody>
      </p:sp>
      <p:sp>
        <p:nvSpPr>
          <p:cNvPr id="20" name="Reasons"/>
          <p:cNvSpPr txBox="1"/>
          <p:nvPr/>
        </p:nvSpPr>
        <p:spPr>
          <a:xfrm>
            <a:off x="685800" y="1508760"/>
            <a:ext cx="5120640" cy="4114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650" b="1">
                <a:solidFill>
                  <a:srgbClr val="1F2937"/>
                </a:solidFill>
              </a:rPr>
              <a:t>Separation of concerns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OSeMOSYS solves the energy system. This package computes labour impacts from the solved capacities.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Independent versioning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Employment assumptions can evolve without changing the core model repository.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Reusable interface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The same factor table can support OSeMOSYS, TIMES-MARKAL, LEAP, or spreadsheet workflows.</a:t>
            </a:r>
          </a:p>
        </p:txBody>
      </p:sp>
      <p:sp>
        <p:nvSpPr>
          <p:cNvPr id="21" name="Boundary"/>
          <p:cNvSpPr txBox="1"/>
          <p:nvPr/>
        </p:nvSpPr>
        <p:spPr>
          <a:xfrm>
            <a:off x="6217920" y="1508760"/>
            <a:ext cx="484632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800" b="1">
                <a:solidFill>
                  <a:srgbClr val="1F2937"/>
                </a:solidFill>
              </a:rPr>
              <a:t>Package boundary</a:t>
            </a:r>
          </a:p>
          <a:p>
            <a:pPr marL="0" marR="0" indent="0"/>
            <a:r>
              <a:rPr lang="en-US" sz="1800">
                <a:solidFill>
                  <a:srgbClr val="1F2937"/>
                </a:solidFill>
              </a:rPr>
              <a:t>Inputs: technology, year, capacity, factor filters.</a:t>
            </a:r>
          </a:p>
          <a:p>
            <a:pPr marL="0" marR="0" indent="0"/>
            <a:r>
              <a:rPr lang="en-US" sz="1800">
                <a:solidFill>
                  <a:srgbClr val="1F2937"/>
                </a:solidFill>
              </a:rPr>
              <a:t>Outputs: jobs or job-years by source, factor type, and job type.</a:t>
            </a:r>
          </a:p>
          <a:p>
            <a:pPr marL="0" marR="0" indent="0"/>
            <a:r>
              <a:rPr lang="en-US" sz="1800">
                <a:solidFill>
                  <a:srgbClr val="1F2937"/>
                </a:solidFill>
              </a:rPr>
              <a:t>Adapters translate model-specific names and columns into this neutral structure.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Repository Structure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The refactor separates reusable code, source data, generated outputs, and model adapters.</a:t>
            </a:r>
          </a:p>
        </p:txBody>
      </p:sp>
      <p:sp>
        <p:nvSpPr>
          <p:cNvPr id="30" name="Structure"/>
          <p:cNvSpPr txBox="1"/>
          <p:nvPr/>
        </p:nvSpPr>
        <p:spPr>
          <a:xfrm>
            <a:off x="685800" y="1417320"/>
            <a:ext cx="5394960" cy="43891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550" b="1">
                <a:solidFill>
                  <a:srgbClr val="1F2937"/>
                </a:solidFill>
              </a:rPr>
              <a:t>src/colombia_employment_factors</a:t>
            </a:r>
          </a:p>
          <a:p>
            <a:pPr marL="0" marR="0" indent="0"/>
            <a:r>
              <a:rPr lang="en-US" sz="1550">
                <a:solidFill>
                  <a:srgbClr val="1F2937"/>
                </a:solidFill>
              </a:rPr>
              <a:t>Installable package: formulas, mappings, projections, employment_factors.py, adapters.</a:t>
            </a:r>
          </a:p>
          <a:p>
            <a:pPr marL="0" marR="0" indent="0"/>
            <a:r>
              <a:rPr lang="en-US" sz="1550">
                <a:solidFill>
                  <a:srgbClr val="1F2937"/>
                </a:solidFill>
              </a:rPr>
              <a:t>data/raw</a:t>
            </a:r>
          </a:p>
          <a:p>
            <a:pPr marL="0" marR="0" indent="0"/>
            <a:r>
              <a:rPr lang="en-US" sz="1550">
                <a:solidFill>
                  <a:srgbClr val="1F2937"/>
                </a:solidFill>
              </a:rPr>
              <a:t>Original curated employment-factor CSV.</a:t>
            </a:r>
          </a:p>
          <a:p>
            <a:pPr marL="0" marR="0" indent="0"/>
            <a:r>
              <a:rPr lang="en-US" sz="1550">
                <a:solidFill>
                  <a:srgbClr val="1F2937"/>
                </a:solidFill>
              </a:rPr>
              <a:t>data/processed</a:t>
            </a:r>
          </a:p>
          <a:p>
            <a:pPr marL="0" marR="0" indent="0"/>
            <a:r>
              <a:rPr lang="en-US" sz="1550">
                <a:solidFill>
                  <a:srgbClr val="1F2937"/>
                </a:solidFill>
              </a:rPr>
              <a:t>Model-ready long-format employment factors.</a:t>
            </a:r>
          </a:p>
          <a:p>
            <a:pPr marL="0" marR="0" indent="0"/>
            <a:r>
              <a:rPr lang="en-US" sz="1550">
                <a:solidFill>
                  <a:srgbClr val="1F2937"/>
                </a:solidFill>
              </a:rPr>
              <a:t>data/audit</a:t>
            </a:r>
          </a:p>
          <a:p>
            <a:pPr marL="0" marR="0" indent="0"/>
            <a:r>
              <a:rPr lang="en-US" sz="1550">
                <a:solidFill>
                  <a:srgbClr val="1F2937"/>
                </a:solidFill>
              </a:rPr>
              <a:t>Excel workbook for traceability and review.</a:t>
            </a:r>
          </a:p>
        </p:txBody>
      </p:sp>
      <p:sp>
        <p:nvSpPr>
          <p:cNvPr id="31" name="Scripts"/>
          <p:cNvSpPr txBox="1"/>
          <p:nvPr/>
        </p:nvSpPr>
        <p:spPr>
          <a:xfrm>
            <a:off x="6400800" y="1417320"/>
            <a:ext cx="466344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650" b="1">
                <a:solidFill>
                  <a:srgbClr val="1F2937"/>
                </a:solidFill>
              </a:rPr>
              <a:t>scripts/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Maintainer commands that rebuild outputs from raw inputs.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tests/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Formula checks, projection checks, and OSeMOSYS adapter checks.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docs/sources/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Source PDFs and catalogue files used for methodology documentation.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Employment Factor Table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The processed data is long-format so it can be filtered and joined to model outputs.</a:t>
            </a:r>
          </a:p>
        </p:txBody>
      </p:sp>
      <p:sp>
        <p:nvSpPr>
          <p:cNvPr id="40" name="Schema"/>
          <p:cNvSpPr txBox="1"/>
          <p:nvPr/>
        </p:nvSpPr>
        <p:spPr>
          <a:xfrm>
            <a:off x="685800" y="1417320"/>
            <a:ext cx="5029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50" b="1">
                <a:solidFill>
                  <a:srgbClr val="1F2937"/>
                </a:solidFill>
              </a:rPr>
              <a:t>Core dimensions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Source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Technology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Factor_Type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Job_Type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Unit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Year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Value_Numeric</a:t>
            </a:r>
          </a:p>
        </p:txBody>
      </p:sp>
      <p:sp>
        <p:nvSpPr>
          <p:cNvPr id="41" name="Metadata"/>
          <p:cNvSpPr txBox="1"/>
          <p:nvPr/>
        </p:nvSpPr>
        <p:spPr>
          <a:xfrm>
            <a:off x="6172200" y="1417320"/>
            <a:ext cx="4937760" cy="4389120"/>
          </a:xfrm>
          <a:prstGeom prst="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00" b="1">
                <a:solidFill>
                  <a:srgbClr val="1F2937"/>
                </a:solidFill>
              </a:rPr>
              <a:t>Projection metadata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Method_Applied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Mapped_Rutovitz_Tech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Rutovitz_2030_Factor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Mapped_Catalogue_Tech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Learning_Rate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Projection_Input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Base_Year and Projected_Year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Rutovitz 2015 Decline Factors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Construction and manufacturing rows from Rutovitz 2015 are brought to 2030 with Table 9 factors.</a:t>
            </a:r>
          </a:p>
        </p:txBody>
      </p:sp>
      <p:sp>
        <p:nvSpPr>
          <p:cNvPr id="50" name="Formula"/>
          <p:cNvSpPr txBox="1"/>
          <p:nvPr/>
        </p:nvSpPr>
        <p:spPr>
          <a:xfrm>
            <a:off x="685800" y="1508760"/>
            <a:ext cx="5577840" cy="1920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850" b="1">
                <a:solidFill>
                  <a:srgbClr val="1F2937"/>
                </a:solidFill>
              </a:rPr>
              <a:t>Formula</a:t>
            </a:r>
          </a:p>
          <a:p>
            <a:pPr marL="0" marR="0" indent="0"/>
            <a:r>
              <a:rPr lang="en-US" sz="1850">
                <a:solidFill>
                  <a:srgbClr val="1F2937"/>
                </a:solidFill>
              </a:rPr>
              <a:t>EF_2030 = EF_2015 * (1 + decline_2030)</a:t>
            </a:r>
          </a:p>
          <a:p>
            <a:pPr marL="0" marR="0" indent="0"/>
            <a:r>
              <a:rPr lang="en-US" sz="1850">
                <a:solidFill>
                  <a:srgbClr val="1F2937"/>
                </a:solidFill>
              </a:rPr>
              <a:t>The coefficient is technology-specific and uses the Latin America 2030 value from Rutovitz Table 9.</a:t>
            </a:r>
          </a:p>
        </p:txBody>
      </p:sp>
      <p:sp>
        <p:nvSpPr>
          <p:cNvPr id="51" name="Scope"/>
          <p:cNvSpPr txBox="1"/>
          <p:nvPr/>
        </p:nvSpPr>
        <p:spPr>
          <a:xfrm>
            <a:off x="6537960" y="1508760"/>
            <a:ext cx="4526280" cy="1920240"/>
          </a:xfrm>
          <a:prstGeom prst="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800" b="1">
                <a:solidFill>
                  <a:srgbClr val="1F2937"/>
                </a:solidFill>
              </a:rPr>
              <a:t>Scope</a:t>
            </a:r>
          </a:p>
          <a:p>
            <a:pPr marL="0" marR="0" indent="0"/>
            <a:r>
              <a:rPr lang="en-US" sz="1800">
                <a:solidFill>
                  <a:srgbClr val="1F2937"/>
                </a:solidFill>
              </a:rPr>
              <a:t>Applied only to Construction and Manufacturing factors.</a:t>
            </a:r>
          </a:p>
          <a:p>
            <a:pPr marL="0" marR="0" indent="0"/>
            <a:r>
              <a:rPr lang="en-US" sz="1800">
                <a:solidFill>
                  <a:srgbClr val="1F2937"/>
                </a:solidFill>
              </a:rPr>
              <a:t>O&amp;M and fuel rows remain as original values unless separately updated by source data.</a:t>
            </a:r>
          </a:p>
        </p:txBody>
      </p:sp>
      <p:sp>
        <p:nvSpPr>
          <p:cNvPr id="52" name="Examples"/>
          <p:cNvSpPr txBox="1"/>
          <p:nvPr/>
        </p:nvSpPr>
        <p:spPr>
          <a:xfrm>
            <a:off x="685800" y="3886200"/>
            <a:ext cx="103784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50">
                <a:solidFill>
                  <a:srgbClr val="1F2937"/>
                </a:solidFill>
              </a:rPr>
              <a:t>Examples: Coal uses multiplier 0.75; Solar PV uses 1.41; Offshore wind uses 1.23; Hydro large/small use 0.94.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Learning-Curve Method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2024 construction and manufacturing-related rows are projected to 2030 and 2050 using cumulative capacity growth.</a:t>
            </a:r>
          </a:p>
        </p:txBody>
      </p:sp>
      <p:sp>
        <p:nvSpPr>
          <p:cNvPr id="60" name="Equation"/>
          <p:cNvSpPr txBox="1"/>
          <p:nvPr/>
        </p:nvSpPr>
        <p:spPr>
          <a:xfrm>
            <a:off x="685800" y="1463040"/>
            <a:ext cx="10424160" cy="1417320"/>
          </a:xfrm>
          <a:prstGeom prst="rect">
            <a:avLst/>
          </a:prstGeom>
          <a:solidFill>
            <a:srgbClr val="ECFDF5"/>
          </a:solidFill>
          <a:ln>
            <a:solidFill>
              <a:srgbClr val="86EFAC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000" b="1">
                <a:solidFill>
                  <a:srgbClr val="1F2937"/>
                </a:solidFill>
              </a:rPr>
              <a:t>projected_factor = base_factor * capacity_ratio ^ log2(1 - learning_rate)</a:t>
            </a:r>
          </a:p>
          <a:p>
            <a:pPr marL="0" marR="0" indent="0"/>
            <a:r>
              <a:rPr lang="en-US" sz="2000">
                <a:solidFill>
                  <a:srgbClr val="1F2937"/>
                </a:solidFill>
              </a:rPr>
              <a:t>Equivalent spreadsheet exponent: LN(1 - LR) / LN(2)</a:t>
            </a:r>
          </a:p>
        </p:txBody>
      </p:sp>
      <p:sp>
        <p:nvSpPr>
          <p:cNvPr id="61" name="Variables"/>
          <p:cNvSpPr txBox="1"/>
          <p:nvPr/>
        </p:nvSpPr>
        <p:spPr>
          <a:xfrm>
            <a:off x="685800" y="3246120"/>
            <a:ext cx="4937760" cy="21488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650" b="1">
                <a:solidFill>
                  <a:srgbClr val="1F2937"/>
                </a:solidFill>
              </a:rPr>
              <a:t>Variables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base_factor: 2024 employment factor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capacity_ratio: accumulated generation capacity relative to 2024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learning_rate: technology learning rate from the Colombian catalogue mapping</a:t>
            </a:r>
          </a:p>
        </p:txBody>
      </p:sp>
      <p:sp>
        <p:nvSpPr>
          <p:cNvPr id="62" name="Interpretation"/>
          <p:cNvSpPr txBox="1"/>
          <p:nvPr/>
        </p:nvSpPr>
        <p:spPr>
          <a:xfrm>
            <a:off x="6172200" y="3246120"/>
            <a:ext cx="4937760" cy="21488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00" b="1">
                <a:solidFill>
                  <a:srgbClr val="1F2937"/>
                </a:solidFill>
              </a:rPr>
              <a:t>Interpretation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As cumulative capacity increases, labour intensity per MW falls for technologies with positive learning rates.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The approach mirrors the standard cost learning curve, applied to employment intensity.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Catalogue Mapping And Fallbacks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Technology names are mapped to catalogue categories; missing learning inputs use explicit CAPEX-ratio fallback rules.</a:t>
            </a:r>
          </a:p>
        </p:txBody>
      </p:sp>
      <p:sp>
        <p:nvSpPr>
          <p:cNvPr id="70" name="Direct mappings"/>
          <p:cNvSpPr txBox="1"/>
          <p:nvPr/>
        </p:nvSpPr>
        <p:spPr>
          <a:xfrm>
            <a:off x="685800" y="1417320"/>
            <a:ext cx="5212080" cy="42976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600" b="1">
                <a:solidFill>
                  <a:srgbClr val="1F2937"/>
                </a:solidFill>
              </a:rPr>
              <a:t>Direct learning-rate mappings</a:t>
            </a:r>
          </a:p>
          <a:p>
            <a:pPr marL="0" marR="0" indent="0"/>
            <a:r>
              <a:rPr lang="en-US" sz="1600">
                <a:solidFill>
                  <a:srgbClr val="1F2937"/>
                </a:solidFill>
              </a:rPr>
              <a:t>Solar PV -&gt; Solar PV</a:t>
            </a:r>
          </a:p>
          <a:p>
            <a:pPr marL="0" marR="0" indent="0"/>
            <a:r>
              <a:rPr lang="en-US" sz="1600">
                <a:solidFill>
                  <a:srgbClr val="1F2937"/>
                </a:solidFill>
              </a:rPr>
              <a:t>Onshore wind -&gt; Wind onshore</a:t>
            </a:r>
          </a:p>
          <a:p>
            <a:pPr marL="0" marR="0" indent="0"/>
            <a:r>
              <a:rPr lang="en-US" sz="1600">
                <a:solidFill>
                  <a:srgbClr val="1F2937"/>
                </a:solidFill>
              </a:rPr>
              <a:t>Offshore wind -&gt; Wind offshore</a:t>
            </a:r>
          </a:p>
          <a:p>
            <a:pPr marL="0" marR="0" indent="0"/>
            <a:r>
              <a:rPr lang="en-US" sz="1600">
                <a:solidFill>
                  <a:srgbClr val="1F2937"/>
                </a:solidFill>
              </a:rPr>
              <a:t>Hydro large/small -&gt; Hydro</a:t>
            </a:r>
          </a:p>
          <a:p>
            <a:pPr marL="0" marR="0" indent="0"/>
            <a:r>
              <a:rPr lang="en-US" sz="1600">
                <a:solidFill>
                  <a:srgbClr val="1F2937"/>
                </a:solidFill>
              </a:rPr>
              <a:t>Biomass power -&gt; Bioenergy</a:t>
            </a:r>
          </a:p>
          <a:p>
            <a:pPr marL="0" marR="0" indent="0"/>
            <a:r>
              <a:rPr lang="en-US" sz="1600">
                <a:solidFill>
                  <a:srgbClr val="1F2937"/>
                </a:solidFill>
              </a:rPr>
              <a:t>Battery storage -&gt; Battery storage</a:t>
            </a:r>
          </a:p>
        </p:txBody>
      </p:sp>
      <p:sp>
        <p:nvSpPr>
          <p:cNvPr id="71" name="Fallbacks"/>
          <p:cNvSpPr txBox="1"/>
          <p:nvPr/>
        </p:nvSpPr>
        <p:spPr>
          <a:xfrm>
            <a:off x="6263640" y="1417320"/>
            <a:ext cx="4800600" cy="4297680"/>
          </a:xfrm>
          <a:prstGeom prst="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00" b="1">
                <a:solidFill>
                  <a:srgbClr val="1F2937"/>
                </a:solidFill>
              </a:rPr>
              <a:t>CAPEX-ratio fallback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EF_t = EF_2024 * (CAPEX_t / CAPEX_2024)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Used where no catalogue learning-rate/capacity-ratio mapping was available.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Examples: Coal, Natural Gas, Nuclear, and Oil/Diesel proxy treatment.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Projection Workflow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The package keeps every projected row auditable through method and mapping metadata.</a:t>
            </a:r>
          </a:p>
        </p:txBody>
      </p:sp>
      <p:sp>
        <p:nvSpPr>
          <p:cNvPr id="80" name="Step 1"/>
          <p:cNvSpPr txBox="1"/>
          <p:nvPr/>
        </p:nvSpPr>
        <p:spPr>
          <a:xfrm>
            <a:off x="685800" y="1508760"/>
            <a:ext cx="3246120" cy="2834640"/>
          </a:xfrm>
          <a:prstGeom prst="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00" b="1">
                <a:solidFill>
                  <a:srgbClr val="1F2937"/>
                </a:solidFill>
              </a:rPr>
              <a:t>1. Read base factors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Load the curated long-format 2015 and 2024 employment-factor table.</a:t>
            </a:r>
          </a:p>
        </p:txBody>
      </p:sp>
      <p:sp>
        <p:nvSpPr>
          <p:cNvPr id="81" name="Step 2"/>
          <p:cNvSpPr txBox="1"/>
          <p:nvPr/>
        </p:nvSpPr>
        <p:spPr>
          <a:xfrm>
            <a:off x="4343400" y="1508760"/>
            <a:ext cx="3246120" cy="2834640"/>
          </a:xfrm>
          <a:prstGeom prst="rect">
            <a:avLst/>
          </a:prstGeom>
          <a:solidFill>
            <a:srgbClr val="ECFDF5"/>
          </a:solidFill>
          <a:ln>
            <a:solidFill>
              <a:srgbClr val="86EFAC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00" b="1">
                <a:solidFill>
                  <a:srgbClr val="1F2937"/>
                </a:solidFill>
              </a:rPr>
              <a:t>2. Apply method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Rutovitz Table 9, learning curve, or CAPEX fallback depending on source and technology.</a:t>
            </a:r>
          </a:p>
        </p:txBody>
      </p:sp>
      <p:sp>
        <p:nvSpPr>
          <p:cNvPr id="82" name="Step 3"/>
          <p:cNvSpPr txBox="1"/>
          <p:nvPr/>
        </p:nvSpPr>
        <p:spPr>
          <a:xfrm>
            <a:off x="8001000" y="1508760"/>
            <a:ext cx="3246120" cy="28346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00" b="1">
                <a:solidFill>
                  <a:srgbClr val="1F2937"/>
                </a:solidFill>
              </a:rPr>
              <a:t>3. Write outputs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Generate processed CSV plus audit workbook with mappings and formula context.</a:t>
            </a:r>
          </a:p>
        </p:txBody>
      </p:sp>
      <p:sp>
        <p:nvSpPr>
          <p:cNvPr id="83" name="Output"/>
          <p:cNvSpPr txBox="1"/>
          <p:nvPr/>
        </p:nvSpPr>
        <p:spPr>
          <a:xfrm>
            <a:off x="685800" y="4892040"/>
            <a:ext cx="1056132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650">
                <a:solidFill>
                  <a:srgbClr val="1F2937"/>
                </a:solidFill>
              </a:rPr>
              <a:t>Output rows preserve Source, Technology, Factor_Type, Job_Type, Unit, Year, Value_Numeric, and projection metadata.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OSeMOSYS Integration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The package is designed for ex-post calculations after the OSeMOSYS optimization has solved.</a:t>
            </a:r>
          </a:p>
        </p:txBody>
      </p:sp>
      <p:sp>
        <p:nvSpPr>
          <p:cNvPr id="90" name="Flow"/>
          <p:cNvSpPr txBox="1"/>
          <p:nvPr/>
        </p:nvSpPr>
        <p:spPr>
          <a:xfrm>
            <a:off x="685800" y="1417320"/>
            <a:ext cx="5029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650" b="1">
                <a:solidFill>
                  <a:srgbClr val="1F2937"/>
                </a:solidFill>
              </a:rPr>
              <a:t>Model output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OSeMOSYS exports technology-year capacity results such as NewCapacity.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Adapter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The OSeMOSYS adapter maps model technology names to employment-factor technology names.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Jobs calculation</a:t>
            </a:r>
          </a:p>
          <a:p>
            <a:pPr marL="0" marR="0" indent="0"/>
            <a:r>
              <a:rPr lang="en-US" sz="1650">
                <a:solidFill>
                  <a:srgbClr val="1F2937"/>
                </a:solidFill>
              </a:rPr>
              <a:t>Employment = model_capacity * employment_factor</a:t>
            </a:r>
          </a:p>
        </p:txBody>
      </p:sp>
      <p:sp>
        <p:nvSpPr>
          <p:cNvPr id="91" name="API"/>
          <p:cNvSpPr txBox="1"/>
          <p:nvPr/>
        </p:nvSpPr>
        <p:spPr>
          <a:xfrm>
            <a:off x="6172200" y="1417320"/>
            <a:ext cx="4937760" cy="43891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00" b="1">
                <a:solidFill>
                  <a:srgbClr val="1F2937"/>
                </a:solidFill>
              </a:rPr>
              <a:t>Python API</a:t>
            </a:r>
          </a:p>
          <a:p>
            <a:pPr marL="0" marR="0" indent="0"/>
            <a:r>
              <a:rPr lang="en-US" sz="1400">
                <a:solidFill>
                  <a:srgbClr val="1F2937"/>
                </a:solidFill>
              </a:rPr>
              <a:t>from colombia_employment_factors import get_employment_factors</a:t>
            </a:r>
          </a:p>
          <a:p>
            <a:pPr marL="0" marR="0" indent="0"/>
            <a:r>
              <a:rPr lang="en-US" sz="1400">
                <a:solidFill>
                  <a:srgbClr val="1F2937"/>
                </a:solidFill>
              </a:rPr>
              <a:t>from colombia_employment_factors.adapters.osemosys import calculate_capacity_jobs</a:t>
            </a:r>
          </a:p>
          <a:p>
            <a:pPr marL="0" marR="0" indent="0"/>
            <a:r>
              <a:rPr lang="en-US" sz="1400">
                <a:solidFill>
                  <a:srgbClr val="1F2937"/>
                </a:solidFill>
              </a:rPr>
              <a:t>factors = get_employment_factors()</a:t>
            </a:r>
          </a:p>
          <a:p>
            <a:pPr marL="0" marR="0" indent="0"/>
            <a:r>
              <a:rPr lang="en-US" sz="1400">
                <a:solidFill>
                  <a:srgbClr val="1F2937"/>
                </a:solidFill>
              </a:rPr>
              <a:t>jobs = calculate_capacity_jobs(results, factors)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Quality And Traceability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The refactor adds repeatability without hiding assumptions.</a:t>
            </a:r>
          </a:p>
        </p:txBody>
      </p:sp>
      <p:sp>
        <p:nvSpPr>
          <p:cNvPr id="100" name="Quality controls"/>
          <p:cNvSpPr txBox="1"/>
          <p:nvPr/>
        </p:nvSpPr>
        <p:spPr>
          <a:xfrm>
            <a:off x="685800" y="1417320"/>
            <a:ext cx="5212080" cy="4297680"/>
          </a:xfrm>
          <a:prstGeom prst="rect">
            <a:avLst/>
          </a:prstGeom>
          <a:solidFill>
            <a:srgbClr val="ECFDF5"/>
          </a:solidFill>
          <a:ln>
            <a:solidFill>
              <a:srgbClr val="86EFAC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50" b="1">
                <a:solidFill>
                  <a:srgbClr val="1F2937"/>
                </a:solidFill>
              </a:rPr>
              <a:t>Tests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Learning-curve formula equals the Excel LN expression.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Projection rows are checked against known values.</a:t>
            </a:r>
          </a:p>
          <a:p>
            <a:pPr marL="0" marR="0" indent="0"/>
            <a:r>
              <a:rPr lang="en-US" sz="1750">
                <a:solidFill>
                  <a:srgbClr val="1F2937"/>
                </a:solidFill>
              </a:rPr>
              <a:t>OSeMOSYS adapter merge and multiplication are checked.</a:t>
            </a:r>
          </a:p>
        </p:txBody>
      </p:sp>
      <p:sp>
        <p:nvSpPr>
          <p:cNvPr id="101" name="Traceability"/>
          <p:cNvSpPr txBox="1"/>
          <p:nvPr/>
        </p:nvSpPr>
        <p:spPr>
          <a:xfrm>
            <a:off x="6263640" y="1417320"/>
            <a:ext cx="4800600" cy="4297680"/>
          </a:xfrm>
          <a:prstGeom prst="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700" b="1">
                <a:solidFill>
                  <a:srgbClr val="1F2937"/>
                </a:solidFill>
              </a:rPr>
              <a:t>Audit trail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Generated rows include method, mapped technology, learning rate, and projection input.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Raw, processed, audit, and source folders have distinct responsibilities.</a:t>
            </a:r>
          </a:p>
          <a:p>
            <a:pPr marL="0" marR="0" indent="0"/>
            <a:r>
              <a:rPr lang="en-US" sz="1700">
                <a:solidFill>
                  <a:srgbClr val="1F2937"/>
                </a:solidFill>
              </a:rPr>
              <a:t>Assumptions remain visible for future UPME review.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2014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2900" b="1">
                <a:solidFill>
                  <a:srgbClr val="0F172A"/>
                </a:solidFill>
              </a:rPr>
              <a:t>Recommended Next Steps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9601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450">
                <a:solidFill>
                  <a:srgbClr val="475569"/>
                </a:solidFill>
              </a:rPr>
              <a:t>The package is ready for GitHub publication and downstream model integration.</a:t>
            </a:r>
          </a:p>
        </p:txBody>
      </p:sp>
      <p:sp>
        <p:nvSpPr>
          <p:cNvPr id="110" name="Next"/>
          <p:cNvSpPr txBox="1"/>
          <p:nvPr/>
        </p:nvSpPr>
        <p:spPr>
          <a:xfrm>
            <a:off x="685800" y="1417320"/>
            <a:ext cx="103784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1850">
                <a:solidFill>
                  <a:srgbClr val="1F2937"/>
                </a:solidFill>
              </a:rPr>
              <a:t>1. Replace approximate CAPEX fallback ratios with fully extracted catalogue values where possible.</a:t>
            </a:r>
          </a:p>
          <a:p>
            <a:pPr marL="0" marR="0" indent="0"/>
            <a:r>
              <a:rPr lang="en-US" sz="1850">
                <a:solidFill>
                  <a:srgbClr val="1F2937"/>
                </a:solidFill>
              </a:rPr>
              <a:t>2. Add a documented OSeMOSYS-UPME technology-name mapping file.</a:t>
            </a:r>
          </a:p>
          <a:p>
            <a:pPr marL="0" marR="0" indent="0"/>
            <a:r>
              <a:rPr lang="en-US" sz="1850">
                <a:solidFill>
                  <a:srgbClr val="1F2937"/>
                </a:solidFill>
              </a:rPr>
              <a:t>3. Add citation guidance for Rutovitz, the Colombian Technology Catalogue, and derived outputs.</a:t>
            </a:r>
          </a:p>
          <a:p>
            <a:pPr marL="0" marR="0" indent="0"/>
            <a:r>
              <a:rPr lang="en-US" sz="1850">
                <a:solidFill>
                  <a:srgbClr val="1F2937"/>
                </a:solidFill>
              </a:rPr>
              <a:t>4. Tag a first release and reference it from OSeMOSYS-UPME requirements.txt.</a:t>
            </a:r>
          </a:p>
          <a:p>
            <a:pPr marL="0" marR="0" indent="0"/>
            <a:r>
              <a:rPr lang="en-US" sz="1850">
                <a:solidFill>
                  <a:srgbClr val="1F2937"/>
                </a:solidFill>
              </a:rPr>
              <a:t>5. Add examples for TIMES-MARKAL or other models only through separate adapters.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90000" rIns="120000" bIns="90000"/>
          <a:lstStyle/>
          <a:p>
            <a:pPr marL="0" marR="0" indent="0"/>
            <a:r>
              <a:rPr lang="en-US" sz="90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